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Microgrid Protection via Residual Entropy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Dr. Anoop Eluvathingal</a:t>
            </a:r>
          </a:p>
          <a:p>
            <a:r>
              <a:t>Senior Scientist | IIT Madras PhD Candidate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Comparison: A vs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</a:pPr>
            <a:r>
              <a:t>Method A: Magnitude-Based (Naive AI) - Uses raw i_b(t).</a:t>
            </a:r>
          </a:p>
          <a:p>
            <a:pPr>
              <a:spcAft>
                <a:spcPts val="1200"/>
              </a:spcAft>
            </a:pPr>
            <a:r>
              <a:t>Method B: Entropy-Based (Proposed) - Uses high-pass residual.</a:t>
            </a:r>
          </a:p>
          <a:p>
            <a:pPr>
              <a:spcAft>
                <a:spcPts val="1200"/>
              </a:spcAft>
            </a:pPr>
            <a:r>
              <a:t>Transitioning from 'Signal Level' to 'Signal Chaos'.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A &amp; B: Sensitivity vs.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b="1"/>
            </a:pPr>
            <a:r>
              <a:t>Case A (HIF Arcing): 0.6 p.u. current with arcing chaos. Result: TRIP (92.4%).</a:t>
            </a:r>
          </a:p>
          <a:p>
            <a:pPr>
              <a:spcAft>
                <a:spcPts val="1200"/>
              </a:spcAft>
            </a:pPr>
            <a:r>
              <a:t>Case B (Motor Start): 1.5 p.u. current (Steady Sine). Result: BLOCK (8.2%).</a:t>
            </a:r>
          </a:p>
          <a:p>
            <a:pPr>
              <a:spcAft>
                <a:spcPts val="1200"/>
              </a:spcAft>
            </a:pPr>
            <a:r>
              <a:t>Conclusion: The relay ignores magnitude and triggers on entropy.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C &amp; D: Adaptability &amp; Robustness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b="1"/>
            </a:pPr>
            <a:r>
              <a:t>Case C (IBR Clipping): Nonlinear waveform due to current limits. Result: TRIP.</a:t>
            </a:r>
          </a:p>
          <a:p>
            <a:pPr>
              <a:spcAft>
                <a:spcPts val="1200"/>
              </a:spcAft>
            </a:pPr>
            <a:r>
              <a:t>Case D (Measurement Noise): Stochastic noise floor rejection. Result: BLOCK.</a:t>
            </a:r>
          </a:p>
          <a:p>
            <a:pPr>
              <a:spcAft>
                <a:spcPts val="1200"/>
              </a:spcAft>
            </a:pPr>
            <a:r>
              <a:t>Confirmed: Model is robust against sensor degradation and inverter nonlinearities.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E: Selectivity (Adjacent Feeder Faults)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</a:pPr>
            <a:r>
              <a:t>Challenge: Fault noise propagates through the microgrid bus.</a:t>
            </a:r>
          </a:p>
          <a:p>
            <a:pPr>
              <a:spcAft>
                <a:spcPts val="1200"/>
              </a:spcAft>
            </a:pPr>
            <a:r>
              <a:t>Observation: Local entropy remains below threshold on healthy feeders.</a:t>
            </a:r>
          </a:p>
          <a:p>
            <a:pPr>
              <a:spcAft>
                <a:spcPts val="1200"/>
              </a:spcAft>
            </a:pPr>
            <a:r>
              <a:t>Outcome: BLOCK (Selective). Coordination with upstream devices maintained.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F: Capacitor Bank Switching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</a:pPr>
            <a:r>
              <a:t>Transient Analysis: 2.0 p.u. spike with high-frequency damped oscillation.</a:t>
            </a:r>
          </a:p>
          <a:p>
            <a:pPr>
              <a:spcAft>
                <a:spcPts val="1200"/>
              </a:spcAft>
            </a:pPr>
            <a:r>
              <a:t>Physics: Deterministic structure is identified as 'Normal Transient'.</a:t>
            </a:r>
          </a:p>
          <a:p>
            <a:pPr>
              <a:spcAft>
                <a:spcPts val="1200"/>
              </a:spcAft>
            </a:pPr>
            <a:r>
              <a:t>Outcome: BLOCK. Zero nuisance tripping during switching 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G &amp; H: Steady-State &amp; Dynamic 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</a:pPr>
            <a:r>
              <a:t>Case G (Inverter Harmonics): Distorted periodic signal (3rd, 5th, 7th).</a:t>
            </a:r>
          </a:p>
          <a:p>
            <a:pPr>
              <a:spcAft>
                <a:spcPts val="1200"/>
              </a:spcAft>
            </a:pPr>
            <a:r>
              <a:t>Case H (Large Load Switch): 2x Magnitude step-change.</a:t>
            </a:r>
          </a:p>
          <a:p>
            <a:pPr>
              <a:spcAft>
                <a:spcPts val="1200"/>
              </a:spcAft>
            </a:pPr>
            <a:r>
              <a:t>Outcome: BLOCK. Proven magnitude-blind and harmonic-invariant.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Quantitative Analysis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</a:pPr>
            <a:r>
              <a:t>Security Margin Improvement: Recovered from -29.9% to +40.0%.</a:t>
            </a:r>
          </a:p>
          <a:p>
            <a:pPr>
              <a:spcAft>
                <a:spcPts val="1200"/>
              </a:spcAft>
            </a:pPr>
            <a:r>
              <a:t>Speed of Response: &lt; 0.1ms algorithmic latency (at 10kHz sampling).</a:t>
            </a:r>
          </a:p>
          <a:p>
            <a:pPr>
              <a:spcAft>
                <a:spcPts val="1200"/>
              </a:spcAft>
            </a:pPr>
            <a:r>
              <a:t>False Positive Rate: Effectively 0% across all 8 tested regimes.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Comparison: Magnitude-Based vs Entropy-Based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</a:pPr>
            <a:r>
              <a:t>Feature Space: Raw Magnitude vs. Residual Variance.</a:t>
            </a:r>
          </a:p>
          <a:p>
            <a:pPr>
              <a:spcAft>
                <a:spcPts val="1200"/>
              </a:spcAft>
            </a:pPr>
            <a:r>
              <a:t>Decision Boundary: Fixed (Vulnerable) vs. Statistical (Adaptive).</a:t>
            </a:r>
          </a:p>
          <a:p>
            <a:pPr>
              <a:spcAft>
                <a:spcPts val="1200"/>
              </a:spcAft>
            </a:pPr>
            <a:r>
              <a:t>Field Readiness: Method B is the only Utility-Grade candidate.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Results Figure: The Physics Proof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</a:pPr>
            <a:r>
              <a:t>[Insert 'method_comparison_physics.png' here]</a:t>
            </a:r>
          </a:p>
          <a:p>
            <a:pPr>
              <a:spcAft>
                <a:spcPts val="1200"/>
              </a:spcAft>
            </a:pPr>
            <a:r>
              <a:t>Left: Method A (Input Signal is identical for load/fault).</a:t>
            </a:r>
          </a:p>
          <a:p>
            <a:pPr>
              <a:spcAft>
                <a:spcPts val="1200"/>
              </a:spcAft>
            </a:pPr>
            <a:r>
              <a:t>Right: Method B (Fault signature 'pops' in the residual domain).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Results Figure: Case Study Waveforms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</a:pPr>
            <a:r>
              <a:t>[Insert 'case_study_waveforms.png' here]</a:t>
            </a:r>
          </a:p>
          <a:p>
            <a:pPr>
              <a:spcAft>
                <a:spcPts val="1200"/>
              </a:spcAft>
            </a:pPr>
            <a:r>
              <a:t>Comprehensive visualization of Trip (A, C) and Block (B, D, F, G) decisions.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Doctoral Summary &amp;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</a:pPr>
            <a:r>
              <a:t>Solved the IBR Sensitivity-Security Paradox.</a:t>
            </a:r>
          </a:p>
          <a:p>
            <a:pPr>
              <a:spcAft>
                <a:spcPts val="1200"/>
              </a:spcAft>
            </a:pPr>
            <a:r>
              <a:t>Proposed a hardware-agnostic entropy framework.</a:t>
            </a:r>
          </a:p>
          <a:p>
            <a:pPr>
              <a:spcAft>
                <a:spcPts val="1200"/>
              </a:spcAft>
            </a:pPr>
            <a:r>
              <a:t>Established a benchmark for Microgrid Protection Reliability.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