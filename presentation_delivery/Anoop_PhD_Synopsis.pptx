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Physics-Informed Hybrid Protection for IBR-Dominated Microgrids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Dr. Anoop Eluvathingal</a:t>
            </a:r>
          </a:p>
          <a:p>
            <a:r>
              <a:t>Senior Scientist | IIT Madras PhD Candidate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IBR Current-Limiting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Inverter-Based Resources (IBRs) suppress fault current magnitudes.</a:t>
            </a:r>
          </a:p>
          <a:p>
            <a:pPr>
              <a:spcAft>
                <a:spcPts val="1400"/>
              </a:spcAft>
            </a:pPr>
            <a:r>
              <a:t>Traditional ANSI 50/51 relays fail to detect High Impedance Faults (HIF).</a:t>
            </a:r>
          </a:p>
          <a:p>
            <a:pPr>
              <a:spcAft>
                <a:spcPts val="1400"/>
              </a:spcAft>
            </a:pPr>
            <a:r>
              <a:t>Result: 'Invisible' faults leading to catastrophic equipment failure.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A Failure: Magnitude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Initial Model: MLP trained on raw current magnitude (ib).</a:t>
            </a:r>
          </a:p>
          <a:p>
            <a:pPr>
              <a:spcAft>
                <a:spcPts val="1400"/>
              </a:spcAft>
            </a:pPr>
            <a:r>
              <a:t>Performance: 100% Sensitivity in lab, but 99.9% Nuisance Tripping in audit.</a:t>
            </a:r>
          </a:p>
          <a:p>
            <a:pPr>
              <a:spcAft>
                <a:spcPts val="1400"/>
              </a:spcAft>
            </a:pPr>
            <a:r>
              <a:t>Finding: -29.9% Security Margin during normal load transients.</a:t>
            </a:r>
          </a:p>
          <a:p>
            <a:pPr>
              <a:spcAft>
                <a:spcPts val="1400"/>
              </a:spcAft>
            </a:pPr>
            <a:r>
              <a:t>Conclusion: Magnitude is a false correlate for IBR protection.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B: Residual Entropy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Innovation: Isolating Arcing Chaos from the Fundamental 50Hz Sine.</a:t>
            </a:r>
          </a:p>
          <a:p>
            <a:pPr>
              <a:spcAft>
                <a:spcPts val="1400"/>
              </a:spcAft>
            </a:pPr>
            <a:r>
              <a:t>Physics: i_residual = i_total - i_rolling_mean.</a:t>
            </a:r>
          </a:p>
          <a:p>
            <a:pPr>
              <a:spcAft>
                <a:spcPts val="1400"/>
              </a:spcAft>
            </a:pPr>
            <a:r>
              <a:t>Primary Features: Noise Density (Sigma) and Ripple Peak-to-Peak.</a:t>
            </a:r>
          </a:p>
          <a:p>
            <a:pPr>
              <a:spcAft>
                <a:spcPts val="1400"/>
              </a:spcAft>
            </a:pPr>
            <a:r>
              <a:t>Benefit: Magnitude-invariant fault discrimination.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Validation: The 8-Scenario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Sensitivity: Detected 0.6 p.u. faults (HIF Case A).</a:t>
            </a:r>
          </a:p>
          <a:p>
            <a:pPr>
              <a:spcAft>
                <a:spcPts val="1400"/>
              </a:spcAft>
            </a:pPr>
            <a:r>
              <a:t>Security: Blocked 1.5 p.u. Motor Starts (Case B).</a:t>
            </a:r>
          </a:p>
          <a:p>
            <a:pPr>
              <a:spcAft>
                <a:spcPts val="1400"/>
              </a:spcAft>
            </a:pPr>
            <a:r>
              <a:t>Robustness: Immune to Cap-Switching and Inverter Harmonics.</a:t>
            </a:r>
          </a:p>
          <a:p>
            <a:pPr>
              <a:spcAft>
                <a:spcPts val="1400"/>
              </a:spcAft>
            </a:pPr>
            <a:r>
              <a:t>System Security Margin: Successfully recovered to &gt;40%.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Selectivity &amp; IEC 61850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Case E: Successful discrimination of adjacent-feeder through-faults.</a:t>
            </a:r>
          </a:p>
          <a:p>
            <a:pPr>
              <a:spcAft>
                <a:spcPts val="1400"/>
              </a:spcAft>
            </a:pPr>
            <a:r>
              <a:t>Communication: GOOSE-assisted coordination logic.</a:t>
            </a:r>
          </a:p>
          <a:p>
            <a:pPr>
              <a:spcAft>
                <a:spcPts val="1400"/>
              </a:spcAft>
            </a:pPr>
            <a:r>
              <a:t>Result: Maximum microgrid availability during external disturbances.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Implementation: Edge-AI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Hardware: ARM Cortex-M7 / TI C2000 DSP for 100μs inference.</a:t>
            </a:r>
          </a:p>
          <a:p>
            <a:pPr>
              <a:spcAft>
                <a:spcPts val="1400"/>
              </a:spcAft>
            </a:pPr>
            <a:r>
              <a:t>Process: Real-time digital filtering + MLP execution.</a:t>
            </a:r>
          </a:p>
          <a:p>
            <a:pPr>
              <a:spcAft>
                <a:spcPts val="1400"/>
              </a:spcAft>
            </a:pPr>
            <a:r>
              <a:t>Integration: ANSI 21LB (Load Blinder) augmented 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Conclusion: Doctorate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Redefined protection boundaries for IBR-dominated grids.</a:t>
            </a:r>
          </a:p>
          <a:p>
            <a:pPr>
              <a:spcAft>
                <a:spcPts val="1400"/>
              </a:spcAft>
            </a:pPr>
            <a:r>
              <a:t>Proven transition from Stochastic AI to Physics-Informed Logic.</a:t>
            </a:r>
          </a:p>
          <a:p>
            <a:pPr>
              <a:spcAft>
                <a:spcPts val="1400"/>
              </a:spcAft>
            </a:pPr>
            <a:r>
              <a:t>Field-ready roadmap for next-gen Microgrid Protection.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