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800000"/>
                </a:solidFill>
              </a:defRPr>
            </a:pPr>
            <a:r>
              <a:t>Advanced Protection for Distributed</a:t>
            </a:r>
            <a:br/>
            <a:r>
              <a:t>Power Systems and Microgrids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4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Thesis Submission Approval Meeting</a:t>
            </a:r>
          </a:p>
          <a:p>
            <a:pPr algn="ctr">
              <a:spcAft>
                <a:spcPts val="1000"/>
              </a:spcAft>
              <a:defRPr sz="1800" b="0"/>
            </a:pPr>
            <a:r>
              <a:t>by</a:t>
            </a:r>
          </a:p>
          <a:p>
            <a:pPr algn="ctr">
              <a:defRPr sz="2800" b="1"/>
            </a:pPr>
            <a:r>
              <a:t>Anoop V Eluvathingal</a:t>
            </a:r>
          </a:p>
          <a:p>
            <a:pPr algn="ctr">
              <a:defRPr sz="2000" b="0"/>
            </a:pPr>
            <a:r>
              <a:t>Doctor of Philosophy</a:t>
            </a:r>
          </a:p>
          <a:p>
            <a:pPr algn="ctr">
              <a:defRPr sz="2000" b="0"/>
            </a:pPr>
            <a:r>
              <a:t>Dept. of Electrical Engineering</a:t>
            </a:r>
          </a:p>
          <a:p>
            <a:pPr algn="ctr">
              <a:spcAft>
                <a:spcPts val="1000"/>
              </a:spcAft>
              <a:defRPr sz="2000" b="0"/>
            </a:pPr>
            <a:r>
              <a:t>IIT Madras</a:t>
            </a:r>
          </a:p>
          <a:p>
            <a:pPr algn="ctr">
              <a:defRPr sz="1800" b="0"/>
            </a:pPr>
            <a:r>
              <a:t>June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Introduction &amp; Background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Research Motivation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Literature Review Summary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Research Objectives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Key Contributions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Thesis Organization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List of Publications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Background and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3/12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Evolving topological frameworks of Active Distribution Networks.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Complex fault signature characterization of Inverter-Based Resources (IBRs).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Stringent regulatory landscape and interconnection compliance (IEEE 1547 / IEC 61727).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Critical impact of reduced rotational inertia on microgrid fault recovery and stability.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4/12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Need for physics-based modelling of DERs to understand transient responses under unbalanced faults.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Desensitisation and mal-operation risks inherent in legacy protection relaying principles.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Coordination challenges in bi-directional, low-inertia networks.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Limitations of standard Interconnection Protection Relay logics for IBRs.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The necessity of AI/ML approaches for fault detection in non-deterministic microgrid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State-of-the-Art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5/12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Industrial maturity of dynamic settings and adaptive principles in modern IEDs.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Identified limitations of Sequence-Component Based Directional Discrimination.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Adoption of IEC 61850 based GOOSE messaging in industry.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Emerging trends: Digital Twins and Physics-Informed Neural Networks (PINNs) applied to power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6/12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Objective 1: Develop Fault-Resilient Adaptive Interconnection Protection Logics for IBR-Dominated Distribution Networks.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Objective 2: Synthesize and implement Hierarchical Microgrid Protection architectures.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Objective 3: Explore and design Data-Driven Paradigms (AI/ML) for advanced Microgrid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7/12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C1: Development of adaptive protection logics for Multifunctional Interconnection Protection Relays.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Formulation of instantaneous time-domain sampling logics for frequency-independent fault detection.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Validation against deterministic legacy relays across extreme scenarios (highly resistive faults, bidirectional infeeds, islanding).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8/12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C2: Synthesis of Multi-Layered Hierarchical Protection Architectures for AC Microgrids.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Designed communication-assisted coordination strategies for grid-tied and islanded transitions (Validated via hardware-in-the-loop).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C3: Design of Physics-Informed Machine Learning classifiers (PINNs) for high-speed, robust fault discrimination in low-inertia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Thesis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9/12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Chapter 2: Physics-Informed Modelling of IBRs (PSCAD/EMT).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Chapter 3: Protection requirements for Active Distribution Networks.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Chapter 4: Algorithms for Multi-Functional Adaptive Interconnection Protection (Focus on C1).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Chapter 5: Adaptive protection architectures for microgrids (Focus on C2).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Chapter 6: AI/ML-based advanced protection utilizing PINNs (Focus on C3).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Chapter 7: Conclusions and Future 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List of Publications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10/12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Refereed Journals: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• A. V. Eluvathingal and K. S. Swarup, 'A novel solution for overcoming conflicts between line protection and LVRT in MV Solar PV interconnections,' IEEE Access, 2024.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Book Chapter:</a:t>
            </a:r>
          </a:p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</a:defRPr>
            </a:pPr>
            <a:r>
              <a:t>• A. V. Eluvathingal and K. S. Swarup. 'Protection scheme for smart distribution networks with inverter interfaced renewable power generating sources.' Springer Singapore, 2020.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List of Publications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Selected Conference Presentations: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• 'An Intelligent Methodology to Improve Distribution System Operational Parameters Utilizing Smart Inverter Functionalities of PV Sources,' RPG 2018, Denmark.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• 'An interface protection relay for networked microgrids with inverter based sources,' APPEEC 2017.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• 'Instantaneous symmetrical components based microgrid interface protection relay,' ICPS 2017.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• 'Impact of Active Network Management Scheme in Fault Protection Design and Network Operation for Islanded Power System,' ISGT Asia 2018.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00000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Anoop V Eluvathingal | TSA Meeting | IIT Madras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46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Addressed the critical protection gaps in modern, low-inertia, IBR-dominated microgrids.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Developed and validated adaptive algorithms resolving conflicts between legacy relays and LVRT mandates.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Proposed a robust PINN architecture for future autonomous, self-healing grids.</a:t>
            </a:r>
          </a:p>
          <a:p>
            <a:pPr>
              <a:spcAft>
                <a:spcPts val="1400"/>
              </a:spcAft>
              <a:defRPr sz="2400">
                <a:solidFill>
                  <a:srgbClr val="000000"/>
                </a:solidFill>
              </a:defRPr>
            </a:pPr>
            <a: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